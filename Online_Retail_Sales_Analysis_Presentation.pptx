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7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Online Retail Sales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1546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0EEFA"/>
                </a:solidFill>
              </a:defRPr>
            </a:pPr>
            <a:r>
              <a:t>Data Analytics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EFA"/>
                </a:solidFill>
              </a:defRPr>
            </a:pPr>
            <a:r>
              <a:t>Python • Pandas • Matplotlib • Power BI •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Overview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55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0EEFA"/>
                </a:solidFill>
              </a:defRPr>
            </a:pPr>
            <a:r>
              <a:t>Online Retail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32323"/>
                </a:solidFill>
              </a:defRPr>
            </a:pPr>
            <a:r>
              <a:t>This project analyzes online retail transaction data to understand sales performance.</a:t>
            </a:r>
          </a:p>
          <a:p>
            <a:pPr>
              <a:spcAft>
                <a:spcPts val="1400"/>
              </a:spcAft>
              <a:defRPr sz="2200" b="0">
                <a:solidFill>
                  <a:srgbClr val="232323"/>
                </a:solidFill>
              </a:defRPr>
            </a:pPr>
            <a:r>
              <a:t>The analysis focuses on sales trends, top products, customer markets and transaction patterns.</a:t>
            </a:r>
          </a:p>
          <a:p>
            <a:pPr>
              <a:spcAft>
                <a:spcPts val="1400"/>
              </a:spcAft>
              <a:defRPr sz="2200" b="0">
                <a:solidFill>
                  <a:srgbClr val="232323"/>
                </a:solidFill>
              </a:defRPr>
            </a:pPr>
            <a:r>
              <a:t>The objective is to convert raw transaction data into useful business insights.</a:t>
            </a:r>
          </a:p>
          <a:p>
            <a:pPr>
              <a:spcAft>
                <a:spcPts val="1400"/>
              </a:spcAft>
              <a:defRPr sz="2200" b="0">
                <a:solidFill>
                  <a:srgbClr val="232323"/>
                </a:solidFill>
              </a:defRPr>
            </a:pPr>
            <a:r>
              <a:t>The results can support inventory planning, marketing decisions and business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Dataset and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55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0EEFA"/>
                </a:solidFill>
              </a:defRPr>
            </a:pPr>
            <a:r>
              <a:t>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32323"/>
                </a:solidFill>
              </a:defRPr>
            </a:pPr>
            <a:r>
              <a:t>Dataset: Online Retail dataset from the UCI Machine Learning Repository.</a:t>
            </a:r>
          </a:p>
          <a:p>
            <a:pPr>
              <a:spcAft>
                <a:spcPts val="1400"/>
              </a:spcAft>
              <a:defRPr sz="1800" b="0">
                <a:solidFill>
                  <a:srgbClr val="232323"/>
                </a:solidFill>
              </a:defRPr>
            </a:pPr>
            <a:r>
              <a:t>Important fields: InvoiceNo, StockCode, Description, Quantity, InvoiceDate, UnitPrice, CustomerID and Country.</a:t>
            </a:r>
          </a:p>
          <a:p>
            <a:pPr>
              <a:spcAft>
                <a:spcPts val="1400"/>
              </a:spcAft>
              <a:defRPr sz="1800" b="0">
                <a:solidFill>
                  <a:srgbClr val="232323"/>
                </a:solidFill>
              </a:defRPr>
            </a:pPr>
            <a:r>
              <a:t>Cleaning steps performed: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Removed duplicate records.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Removed rows with missing product descriptions.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Removed zero or negative quantities.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Removed zero or negative unit prices.</a:t>
            </a:r>
          </a:p>
          <a:p>
            <a:pPr>
              <a:spcAft>
                <a:spcPts val="1400"/>
              </a:spcAft>
              <a:defRPr sz="1800" b="0">
                <a:solidFill>
                  <a:srgbClr val="232323"/>
                </a:solidFill>
              </a:defRPr>
            </a:pPr>
            <a:r>
              <a:t>The cleaned data was saved as a CSV file for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Exploratory Data Analysis and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55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0EEFA"/>
                </a:solidFill>
              </a:defRPr>
            </a:pPr>
            <a:r>
              <a:t>Python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232323"/>
                </a:solidFill>
              </a:defRPr>
            </a:pPr>
            <a:r>
              <a:t>EDA methods used: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Descriptive statistics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Correlation analysis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Outlier detection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Monthly trend analysis</a:t>
            </a:r>
          </a:p>
          <a:p>
            <a:pPr>
              <a:spcAft>
                <a:spcPts val="1400"/>
              </a:spcAft>
              <a:defRPr sz="1700" b="0">
                <a:solidFill>
                  <a:srgbClr val="232323"/>
                </a:solidFill>
              </a:defRPr>
            </a:pPr>
            <a:r>
              <a:t>Five visualizations were created: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Monthly Quantity Sold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Top 10 Products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Top 10 Countries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Quantity Distribution</a:t>
            </a:r>
          </a:p>
          <a:p>
            <a:pPr lvl="1">
              <a:spcAft>
                <a:spcPts val="700"/>
              </a:spcAft>
              <a:defRPr sz="1400">
                <a:solidFill>
                  <a:srgbClr val="232323"/>
                </a:solidFill>
              </a:defRPr>
            </a:pPr>
            <a:r>
              <a:t>Quantity vs Unit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4937760" cy="4297680"/>
          </a:xfrm>
          <a:prstGeom prst="roundRect">
            <a:avLst/>
          </a:prstGeom>
          <a:solidFill>
            <a:srgbClr val="E0EEFA"/>
          </a:solidFill>
          <a:ln w="19050">
            <a:solidFill>
              <a:srgbClr val="27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82D4E"/>
                </a:solidFill>
              </a:defRPr>
            </a:pPr>
            <a:r>
              <a:t>Main EDA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2402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2400" b="1">
                <a:solidFill>
                  <a:srgbClr val="232323"/>
                </a:solidFill>
              </a:defRPr>
            </a:pPr>
            <a:r>
              <a:t>Quantity and UnitPrice have almost no linear relationship.</a:t>
            </a:r>
          </a:p>
          <a:p>
            <a:pPr algn="ctr">
              <a:defRPr sz="2000">
                <a:solidFill>
                  <a:srgbClr val="2E7D5A"/>
                </a:solidFill>
              </a:defRPr>
            </a:pPr>
            <a:r>
              <a:t>Correlation: -0.003788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55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0EEFA"/>
                </a:solidFill>
              </a:defRPr>
            </a:pPr>
            <a:r>
              <a:t>Interactive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32323"/>
                </a:solidFill>
              </a:defRPr>
            </a:pPr>
            <a:r>
              <a:t>The Power BI dashboard presents the main business metrics in one interactive report.</a:t>
            </a:r>
          </a:p>
          <a:p>
            <a:pPr>
              <a:spcAft>
                <a:spcPts val="1400"/>
              </a:spcAft>
              <a:defRPr sz="1800" b="0">
                <a:solidFill>
                  <a:srgbClr val="232323"/>
                </a:solidFill>
              </a:defRPr>
            </a:pPr>
            <a:r>
              <a:t>Dashboard components include: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Total Sales KPI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Total Quantity KPI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Total Transactions KPI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Monthly Sales line chart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Top 10 Products by Sales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Sales by Country</a:t>
            </a:r>
          </a:p>
          <a:p>
            <a:pPr lvl="1">
              <a:spcAft>
                <a:spcPts val="700"/>
              </a:spcAft>
              <a:defRPr sz="1500">
                <a:solidFill>
                  <a:srgbClr val="232323"/>
                </a:solidFill>
              </a:defRPr>
            </a:pPr>
            <a:r>
              <a:t>Country and InvoiceDate slicers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3383280" cy="1234440"/>
          </a:xfrm>
          <a:prstGeom prst="roundRect">
            <a:avLst/>
          </a:prstGeom>
          <a:solidFill>
            <a:srgbClr val="E0EEFA"/>
          </a:solidFill>
          <a:ln w="19050">
            <a:solidFill>
              <a:srgbClr val="27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20116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2D4E"/>
                </a:solidFill>
              </a:defRPr>
            </a:pPr>
            <a:r>
              <a:t>≈ 9.75M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880360"/>
            <a:ext cx="3383280" cy="1234440"/>
          </a:xfrm>
          <a:prstGeom prst="roundRect">
            <a:avLst/>
          </a:prstGeom>
          <a:solidFill>
            <a:srgbClr val="E0EEFA"/>
          </a:solidFill>
          <a:ln w="19050">
            <a:solidFill>
              <a:srgbClr val="27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0449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</a:defRPr>
            </a:pPr>
            <a:r>
              <a:t>Total Quantity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347472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2D4E"/>
                </a:solidFill>
              </a:defRPr>
            </a:pPr>
            <a:r>
              <a:t>≈ 5M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343400"/>
            <a:ext cx="3383280" cy="1234440"/>
          </a:xfrm>
          <a:prstGeom prst="roundRect">
            <a:avLst/>
          </a:prstGeom>
          <a:solidFill>
            <a:srgbClr val="E0EEFA"/>
          </a:solidFill>
          <a:ln w="19050">
            <a:solidFill>
              <a:srgbClr val="27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5079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5F5F"/>
                </a:solidFill>
              </a:defRPr>
            </a:pPr>
            <a: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49377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2D4E"/>
                </a:solidFill>
              </a:defRPr>
            </a:pPr>
            <a:r>
              <a:t>≈ 25K+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Insights and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55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0EEFA"/>
                </a:solidFill>
              </a:defRPr>
            </a:pPr>
            <a:r>
              <a:t>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0">
                <a:solidFill>
                  <a:srgbClr val="232323"/>
                </a:solidFill>
              </a:defRPr>
            </a:pPr>
            <a:r>
              <a:t>Key Insights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Total sales are approximately 9.75M.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Around 5M units were sold.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November showed the strongest monthly performance.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The United Kingdom is the strongest market.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Quantity and UnitPrice have almost no linear relationship.</a:t>
            </a:r>
          </a:p>
          <a:p>
            <a:pPr>
              <a:spcAft>
                <a:spcPts val="1400"/>
              </a:spcAft>
              <a:defRPr sz="1600" b="0">
                <a:solidFill>
                  <a:srgbClr val="232323"/>
                </a:solidFill>
              </a:defRPr>
            </a:pPr>
            <a:r>
              <a:t>Business Recommendations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Maintain sufficient stock of top-selling products before high-demand periods.</a:t>
            </a:r>
          </a:p>
          <a:p>
            <a:pPr lvl="1">
              <a:spcAft>
                <a:spcPts val="700"/>
              </a:spcAft>
              <a:defRPr sz="1300">
                <a:solidFill>
                  <a:srgbClr val="232323"/>
                </a:solidFill>
              </a:defRPr>
            </a:pPr>
            <a:r>
              <a:t>Use targeted promotions to improve sales in other countries.</a:t>
            </a:r>
          </a:p>
          <a:p>
            <a:pPr>
              <a:spcAft>
                <a:spcPts val="1400"/>
              </a:spcAft>
              <a:defRPr sz="1600" b="0">
                <a:solidFill>
                  <a:srgbClr val="232323"/>
                </a:solidFill>
              </a:defRPr>
            </a:pPr>
            <a:r>
              <a:t>Conclusion: Data analysis and visualization can support better business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